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360152" cy="1463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Plateforme E-Commerce Full-Stack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BFE"/>
                </a:solidFill>
              </a:rPr>
              <a:t>Système de Gestion — Site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880360"/>
            <a:ext cx="7616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3063240"/>
            <a:ext cx="2286000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4752" y="309067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</a:rPr>
              <a:t>Auteur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3284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3063240"/>
            <a:ext cx="2286000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309067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</a:rPr>
              <a:t>Formateur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33284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Khalid MZIBRA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063240"/>
            <a:ext cx="2286000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309067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</a:rPr>
              <a:t>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25526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DOWFS201 — </a:t>
            </a:r>
            <a:r>
              <a:rPr sz="1300" b="1" i="0" dirty="0" err="1">
                <a:solidFill>
                  <a:srgbClr val="FFFFFF"/>
                </a:solidFill>
              </a:rPr>
              <a:t>Projet</a:t>
            </a:r>
            <a:r>
              <a:rPr sz="1300" b="1" i="0" dirty="0">
                <a:solidFill>
                  <a:srgbClr val="FFFFFF"/>
                </a:solidFill>
              </a:rPr>
              <a:t> de </a:t>
            </a:r>
            <a:r>
              <a:rPr sz="1300" b="1" i="0" dirty="0" err="1">
                <a:solidFill>
                  <a:srgbClr val="FFFFFF"/>
                </a:solidFill>
              </a:rPr>
              <a:t>synthèse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52559" y="3063240"/>
            <a:ext cx="2286000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1" y="309067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33284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Mai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1691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50791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Laravel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023360"/>
            <a:ext cx="1691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97480" y="4050791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React 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023360"/>
            <a:ext cx="1691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4050791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Redux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023360"/>
            <a:ext cx="1691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4050791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4023360"/>
            <a:ext cx="1691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4050791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SQLite/MySQL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0" y="4023360"/>
            <a:ext cx="1691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78440" y="4050791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PayPal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3C5FD"/>
                </a:solidFill>
              </a:rPr>
              <a:t>DOWFS201 — Projet de Synthèse · Soutenance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2860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1.  Introduction &amp;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Objectifs et périmètre du 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2286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</a:rPr>
              <a:t>2.  Analyse des Besoins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Rôles, acteurs et fonctionnalités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5486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22860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3.  Architecture &amp; Conception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Stack technique et diagrammes UML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788920"/>
            <a:ext cx="5486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788920"/>
            <a:ext cx="228600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</a:rPr>
              <a:t>4.  Réalisation &amp; Fonctionnalités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API REST, frontend, features clés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486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228600" cy="13716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B2777"/>
                </a:solidFill>
              </a:rPr>
              <a:t>5.  Sécurité &amp; Internationalisation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RBAC, Sanctum, i18n EN/FR/AR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89120"/>
            <a:ext cx="5486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4389120"/>
            <a:ext cx="22860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</a:rPr>
              <a:t>6.  Démo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983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Points forts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1. Introduction &amp;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40AF"/>
                </a:solidFill>
              </a:rPr>
              <a:t>Contexte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Développement d'une plateforme e-commerce complète dans le cadre du module DOWFS201. L'application permet la gestion des ventes en ligne avec une expérience utilisateur de qualité professionnelle.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12745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</a:rPr>
              <a:t>Objectifs réalisés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2937"/>
                </a:solidFill>
              </a:rPr>
              <a:t>•  API REST robuste avec Laravel 12 (11 contrôleurs, 16 migrations)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2937"/>
                </a:solidFill>
              </a:rPr>
              <a:t>•  SPA React 19 avec gestion d'état Redux et Tailwind CSS 4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2937"/>
                </a:solidFill>
              </a:rPr>
              <a:t>•  4 rôles : Admin · Vendeur · Client · Caissière de Charge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2937"/>
                </a:solidFill>
              </a:rPr>
              <a:t>•  Paiement PayPal + factures PDF automatiques (DomPDF)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2937"/>
                </a:solidFill>
              </a:rPr>
              <a:t>•  Multilingue : Anglais, Français, Arabe (support RTL)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2937"/>
                </a:solidFill>
              </a:rPr>
              <a:t>•  Bonus : Chatbot d'assistance + Recommandations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2. Analyse des Besoins — Rôles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889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881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3560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Parcourir le 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Gérer le panier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476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Passer une 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037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Suivre commandes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597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Laisser un avis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05156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88920" cy="34747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0881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Caissière de Charge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43560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Traiter les paiements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Valider les commandes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9476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Émettre des factures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037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Gérer les retours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4597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Consulter commandes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5156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889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0881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Vendeur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43560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CRUD produits +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Gérer le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9476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Tableau de bord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037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Suivi commandes reçues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4597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Upload documents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05156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52560" y="1051560"/>
            <a:ext cx="278892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10881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Administrateur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43560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Gérer utilisateurs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Modérer les avis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19476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Analytics &amp; graphiques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2037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Gérer catégories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4597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Tous les produits/commandes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 Architecture &amp; 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424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React 19 + Vite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Redux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Tailwind CSS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React Router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Axios + Bearer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i18n (EN/FR/AR)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05840"/>
            <a:ext cx="36576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005840"/>
            <a:ext cx="365760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0424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Backend Laravel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API REST /api/v1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Sanctum (Auth)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901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11 Contrôleurs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1579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Eloquent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414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DomPDF + SMTP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70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Middleware RBAC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005840"/>
            <a:ext cx="36576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1005840"/>
            <a:ext cx="36576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10424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Données &amp;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SQLite / MySQL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14 Modèles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901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16 Migrations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579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PayPal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414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Storage (images/PDFs)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670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Cache &amp; Queue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</a:rPr>
              <a:t>Architecture découplée (Headless)  ·  API JSON  ·  Token Bearer  ·  CORS configuré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4. Fonctionnalités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424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Panier &amp; Commande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Panier invité (session) + auth (DB)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Fusion automatique à la connexion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Coupon % ou montant fixe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57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TVA 20% + livraison calculée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14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Facture PDF auto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66928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0424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Produits &amp; Catalogue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389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CRUD + images multiples (dropzone)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Filtres : prix, catégorie,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Produits vedettes + recherche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57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Avis avec modération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14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Soft delete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566928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785615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330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Revenus + commandes en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3891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Graphiques Recharts (jour/mois)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64515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Gestion utilisateurs &amp; rôles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90118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Mise à jour statuts commandes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15721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Catégories hiérarchiques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749039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5669280" cy="34747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3785615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Caissière &amp; Paiements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1330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Validation &amp; traitement commandes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891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Paiement PayPal intégré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64515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Émission factures manuelles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90118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Gestion des retours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15721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• Historique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5. Sécurité &amp; Internationalisation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424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Sanctum — tokens Bearer stateless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RBAC — middleware par rôle (admin/seller/client/caissière)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Validation Laravel sur tous les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Propriété ressources (vendeur → ses produits)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Hashage bcrypt (passwords)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CORS strict (origine frontend uniquement)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Upload : validation MIME + taille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0584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005840"/>
            <a:ext cx="54864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0424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Internationalisation (i18n)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i18next — bascule instantanée sans rechargement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Anglais (EN) — langue par défaut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01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Français (FR) — interface complète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57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Arabe (AR) — direction RTL automatique du 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140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Langue persistée dans localStorage + profil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70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Chatbot adapte ses réponses selon Accept-Language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</a:rPr>
              <a:t>Responsive Design — Tailwind CSS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80560"/>
            <a:ext cx="11457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• Interface adaptative — Mobile · Tablette · Desktop
• Compatibilité Chrome, Firefox, Safari, Edge
• Dark Mode intégré (toggle persisté)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Démo — Comptes de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Administrateur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Email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admin@example.com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Mot de passe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Accès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Accès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864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161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Vendeur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Email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seller@example.com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48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Mot de passe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97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Accès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Gestion produits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49039"/>
            <a:ext cx="54864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1304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5195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Email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519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client@example.com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59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Mot de passe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8005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password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4923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Accès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349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Achat en ligne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5486400" cy="4114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381304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Caissière de Charge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25195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B2777"/>
                </a:solidFill>
              </a:rPr>
              <a:t>Email 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2519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caissiere@example.com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80059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B2777"/>
                </a:solidFill>
              </a:rPr>
              <a:t>Mot de passe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8005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password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4923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B2777"/>
                </a:solidFill>
              </a:rPr>
              <a:t>Accès 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349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Paiements &amp; retours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</a:rPr>
              <a:t>Frontend : http://localhost:5173  ·  Backend : http://localhost:8000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6. 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2560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 dirty="0">
                <a:solidFill>
                  <a:srgbClr val="FFFFFF"/>
                </a:solidFill>
              </a:rPr>
              <a:t>  ✓  API REST </a:t>
            </a:r>
            <a:r>
              <a:rPr sz="1400" dirty="0" err="1">
                <a:solidFill>
                  <a:srgbClr val="FFFFFF"/>
                </a:solidFill>
              </a:rPr>
              <a:t>complète</a:t>
            </a:r>
            <a:r>
              <a:rPr sz="1400" dirty="0">
                <a:solidFill>
                  <a:srgbClr val="FFFFFF"/>
                </a:solidFill>
              </a:rPr>
              <a:t> — 11 </a:t>
            </a:r>
            <a:r>
              <a:rPr sz="1400" dirty="0" err="1">
                <a:solidFill>
                  <a:srgbClr val="FFFFFF"/>
                </a:solidFill>
              </a:rPr>
              <a:t>contrôleurs</a:t>
            </a:r>
            <a:r>
              <a:rPr sz="1400" dirty="0">
                <a:solidFill>
                  <a:srgbClr val="FFFFFF"/>
                </a:solidFill>
              </a:rPr>
              <a:t>, 45+ endpoints</a:t>
            </a:r>
          </a:p>
          <a:p>
            <a:pPr algn="l">
              <a:spcBef>
                <a:spcPts val="300"/>
              </a:spcBef>
            </a:pPr>
            <a:r>
              <a:rPr sz="1400" dirty="0">
                <a:solidFill>
                  <a:srgbClr val="FFFFFF"/>
                </a:solidFill>
              </a:rPr>
              <a:t>  ✓  4 </a:t>
            </a:r>
            <a:r>
              <a:rPr sz="1400" dirty="0" err="1">
                <a:solidFill>
                  <a:srgbClr val="FFFFFF"/>
                </a:solidFill>
              </a:rPr>
              <a:t>rôles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distincts</a:t>
            </a:r>
            <a:r>
              <a:rPr sz="1400" dirty="0">
                <a:solidFill>
                  <a:srgbClr val="FFFFFF"/>
                </a:solidFill>
              </a:rPr>
              <a:t> avec RBAC </a:t>
            </a:r>
            <a:r>
              <a:rPr sz="1400" dirty="0" err="1">
                <a:solidFill>
                  <a:srgbClr val="FFFFFF"/>
                </a:solidFill>
              </a:rPr>
              <a:t>granulaire</a:t>
            </a:r>
            <a:r>
              <a:rPr sz="1400" dirty="0">
                <a:solidFill>
                  <a:srgbClr val="FFFFFF"/>
                </a:solidFill>
              </a:rPr>
              <a:t> (Admin / </a:t>
            </a:r>
            <a:r>
              <a:rPr sz="1400" dirty="0" err="1">
                <a:solidFill>
                  <a:srgbClr val="FFFFFF"/>
                </a:solidFill>
              </a:rPr>
              <a:t>Vendeur</a:t>
            </a:r>
            <a:r>
              <a:rPr sz="1400" dirty="0">
                <a:solidFill>
                  <a:srgbClr val="FFFFFF"/>
                </a:solidFill>
              </a:rPr>
              <a:t> / Client / </a:t>
            </a:r>
            <a:r>
              <a:rPr sz="1400" dirty="0" err="1">
                <a:solidFill>
                  <a:srgbClr val="FFFFFF"/>
                </a:solidFill>
              </a:rPr>
              <a:t>Caissière</a:t>
            </a:r>
            <a:r>
              <a:rPr sz="1400" dirty="0">
                <a:solidFill>
                  <a:srgbClr val="FFFFFF"/>
                </a:solidFill>
              </a:rPr>
              <a:t>)</a:t>
            </a:r>
          </a:p>
          <a:p>
            <a:pPr algn="l">
              <a:spcBef>
                <a:spcPts val="300"/>
              </a:spcBef>
            </a:pPr>
            <a:r>
              <a:rPr sz="1400" dirty="0">
                <a:solidFill>
                  <a:srgbClr val="FFFFFF"/>
                </a:solidFill>
              </a:rPr>
              <a:t>  ✓  </a:t>
            </a:r>
            <a:r>
              <a:rPr sz="1400" dirty="0" err="1">
                <a:solidFill>
                  <a:srgbClr val="FFFFFF"/>
                </a:solidFill>
              </a:rPr>
              <a:t>Multilingue</a:t>
            </a:r>
            <a:r>
              <a:rPr sz="1400" dirty="0">
                <a:solidFill>
                  <a:srgbClr val="FFFFFF"/>
                </a:solidFill>
              </a:rPr>
              <a:t> EN / FR / AR avec support RTL </a:t>
            </a:r>
            <a:r>
              <a:rPr sz="1400" dirty="0" err="1">
                <a:solidFill>
                  <a:srgbClr val="FFFFFF"/>
                </a:solidFill>
              </a:rPr>
              <a:t>intégral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dirty="0">
                <a:solidFill>
                  <a:srgbClr val="FFFFFF"/>
                </a:solidFill>
              </a:rPr>
              <a:t>  ✓  Paiement PayPal + factures PDF </a:t>
            </a:r>
            <a:r>
              <a:rPr sz="1400" dirty="0" err="1">
                <a:solidFill>
                  <a:srgbClr val="FFFFFF"/>
                </a:solidFill>
              </a:rPr>
              <a:t>automatiques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dirty="0">
                <a:solidFill>
                  <a:srgbClr val="FFFFFF"/>
                </a:solidFill>
              </a:rPr>
              <a:t>  ✓  Chatbot </a:t>
            </a:r>
            <a:r>
              <a:rPr sz="1400" dirty="0" err="1">
                <a:solidFill>
                  <a:srgbClr val="FFFFFF"/>
                </a:solidFill>
              </a:rPr>
              <a:t>d'assistance</a:t>
            </a:r>
            <a:r>
              <a:rPr sz="1400" dirty="0">
                <a:solidFill>
                  <a:srgbClr val="FFFFFF"/>
                </a:solidFill>
              </a:rPr>
              <a:t> + </a:t>
            </a:r>
            <a:r>
              <a:rPr sz="1400" dirty="0" err="1">
                <a:solidFill>
                  <a:srgbClr val="FFFFFF"/>
                </a:solidFill>
              </a:rPr>
              <a:t>recommandations</a:t>
            </a:r>
            <a:r>
              <a:rPr sz="1400" dirty="0">
                <a:solidFill>
                  <a:srgbClr val="FFFFFF"/>
                </a:solidFill>
              </a:rPr>
              <a:t> ML (bonus </a:t>
            </a:r>
            <a:r>
              <a:rPr sz="1400" dirty="0" err="1">
                <a:solidFill>
                  <a:srgbClr val="FFFFFF"/>
                </a:solidFill>
              </a:rPr>
              <a:t>réalisé</a:t>
            </a:r>
            <a:r>
              <a:rPr sz="1400" dirty="0">
                <a:solidFill>
                  <a:srgbClr val="FFFFFF"/>
                </a:solidFill>
              </a:rPr>
              <a:t>)</a:t>
            </a:r>
          </a:p>
          <a:p>
            <a:pPr algn="l">
              <a:spcBef>
                <a:spcPts val="300"/>
              </a:spcBef>
            </a:pPr>
            <a:r>
              <a:rPr sz="1400" dirty="0">
                <a:solidFill>
                  <a:srgbClr val="FFFFFF"/>
                </a:solidFill>
              </a:rPr>
              <a:t>  ✓  Interface responsive, dark mode, animations Framer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Perspectives d'amélioration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FDBFE"/>
                </a:solidFill>
              </a:rPr>
              <a:t>→  Migration MySQL + déploiement Railway/Vercel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FDBFE"/>
                </a:solidFill>
              </a:rPr>
              <a:t>→  Notifications temps réel (WebSockets / Laravel Echo)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FDBFE"/>
                </a:solidFill>
              </a:rPr>
              <a:t>→  Application mobile React Native (même API)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FDBFE"/>
                </a:solidFill>
              </a:rPr>
              <a:t>→  Moteur ML amélioré (modèle de recommandation)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DOWFS201 — Anas — Mai 2026  ·  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912</Words>
  <Application>Microsoft Office PowerPoint</Application>
  <PresentationFormat>Custom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</cp:lastModifiedBy>
  <cp:revision>2</cp:revision>
  <dcterms:created xsi:type="dcterms:W3CDTF">2013-01-27T09:14:16Z</dcterms:created>
  <dcterms:modified xsi:type="dcterms:W3CDTF">2026-05-15T13:56:13Z</dcterms:modified>
  <cp:category/>
</cp:coreProperties>
</file>