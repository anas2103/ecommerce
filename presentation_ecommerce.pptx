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9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840480"/>
          </a:xfrm>
          <a:prstGeom prst="rect">
            <a:avLst/>
          </a:prstGeom>
          <a:solidFill>
            <a:srgbClr val="0052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22191"/>
            <a:ext cx="12188952" cy="109728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PLATEFORME E-COMMERCE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B0D8F7"/>
                </a:solidFill>
                <a:latin typeface="Calibri"/>
              </a:rPr>
              <a:t>Système Full-Stack de Gestion des Ventes en Ligne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AB0D0"/>
                </a:solidFill>
                <a:latin typeface="Calibri"/>
              </a:rPr>
              <a:t>Module DOWFS201 — Projet de Synthèse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2560320" cy="777240"/>
          </a:xfrm>
          <a:prstGeom prst="rect">
            <a:avLst/>
          </a:prstGeom>
          <a:solidFill>
            <a:srgbClr val="0C1A32"/>
          </a:solidFill>
          <a:ln w="12700">
            <a:solidFill>
              <a:srgbClr val="1A4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78892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AB0D0"/>
                </a:solidFill>
                <a:latin typeface="Calibri"/>
              </a:rPr>
              <a:t>Auteur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44952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Anas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2743200"/>
            <a:ext cx="2560320" cy="777240"/>
          </a:xfrm>
          <a:prstGeom prst="rect">
            <a:avLst/>
          </a:prstGeom>
          <a:solidFill>
            <a:srgbClr val="0C1A32"/>
          </a:solidFill>
          <a:ln w="12700">
            <a:solidFill>
              <a:srgbClr val="1A4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278892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AB0D0"/>
                </a:solidFill>
                <a:latin typeface="Calibri"/>
              </a:rPr>
              <a:t>Formateur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3044952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Khalid MZIBRA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743200"/>
            <a:ext cx="2560320" cy="777240"/>
          </a:xfrm>
          <a:prstGeom prst="rect">
            <a:avLst/>
          </a:prstGeom>
          <a:solidFill>
            <a:srgbClr val="0C1A32"/>
          </a:solidFill>
          <a:ln w="12700">
            <a:solidFill>
              <a:srgbClr val="1A4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278892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AB0D0"/>
                </a:solidFill>
                <a:latin typeface="Calibri"/>
              </a:rPr>
              <a:t>Module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3044952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DOWFS201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2743200"/>
            <a:ext cx="2560320" cy="777240"/>
          </a:xfrm>
          <a:prstGeom prst="rect">
            <a:avLst/>
          </a:prstGeom>
          <a:solidFill>
            <a:srgbClr val="0C1A32"/>
          </a:solidFill>
          <a:ln w="12700">
            <a:solidFill>
              <a:srgbClr val="1A4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278892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AB0D0"/>
                </a:solidFill>
                <a:latin typeface="Calibri"/>
              </a:rPr>
              <a:t>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3044952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Mai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160520"/>
            <a:ext cx="1691640" cy="38404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4187952"/>
            <a:ext cx="1545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Laravel 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4160520"/>
            <a:ext cx="1691640" cy="3840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67712" y="4187952"/>
            <a:ext cx="1545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React 19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40" y="4160520"/>
            <a:ext cx="1691640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50792" y="4187952"/>
            <a:ext cx="1545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Redux Toolkit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60720" y="4160520"/>
            <a:ext cx="1691640" cy="3840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33872" y="4187952"/>
            <a:ext cx="1545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Tailwind CSS 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3800" y="4160520"/>
            <a:ext cx="1691640" cy="38404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16952" y="4187952"/>
            <a:ext cx="1545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PWA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0" y="4160520"/>
            <a:ext cx="1691640" cy="38404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00032" y="4187952"/>
            <a:ext cx="1545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i18next EN/FR/AR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AB0D0"/>
                </a:solidFill>
                <a:latin typeface="Calibri"/>
              </a:rPr>
              <a:t>github.com/Anas2103/Ecommerce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52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73152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Sommaire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9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D6B8C"/>
                </a:solidFill>
                <a:latin typeface="Calibri"/>
              </a:rPr>
              <a:t>DOWFS201 — Plateforme E-Commerce Morocco — Mai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5303520" cy="9601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438912" cy="9601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" y="1755648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73736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332"/>
                </a:solidFill>
                <a:latin typeface="Calibri"/>
              </a:rPr>
              <a:t>Introduction &amp; Objectifs du Projet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303520" cy="9601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438912" cy="9601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2898648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88036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332"/>
                </a:solidFill>
                <a:latin typeface="Calibri"/>
              </a:rPr>
              <a:t>Analyse des Besoins &amp; Rôles Utilisateurs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5303520" cy="9601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438912" cy="9601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4041648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02336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332"/>
                </a:solidFill>
                <a:latin typeface="Calibri"/>
              </a:rPr>
              <a:t>Architecture Technique &amp; Modèle de Données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983480"/>
            <a:ext cx="5303520" cy="9601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983480"/>
            <a:ext cx="438912" cy="9601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" y="5184648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16636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332"/>
                </a:solidFill>
                <a:latin typeface="Calibri"/>
              </a:rPr>
              <a:t>Stack Technique &amp; API REST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1554480"/>
            <a:ext cx="5303520" cy="9601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80" y="1554480"/>
            <a:ext cx="438912" cy="9601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3056" y="1755648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173736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332"/>
                </a:solidFill>
                <a:latin typeface="Calibri"/>
              </a:rPr>
              <a:t>Pages Frontend &amp; Système de Thèmes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2697480"/>
            <a:ext cx="5303520" cy="9601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6480" y="2697480"/>
            <a:ext cx="438912" cy="9601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63056" y="2898648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288036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332"/>
                </a:solidFill>
                <a:latin typeface="Calibri"/>
              </a:rPr>
              <a:t>Fonctionnalités Commerce Avancées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840480"/>
            <a:ext cx="5303520" cy="9601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840480"/>
            <a:ext cx="438912" cy="9601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63056" y="4041648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402336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332"/>
                </a:solidFill>
                <a:latin typeface="Calibri"/>
              </a:rPr>
              <a:t>Tableau de Bord, Analytics &amp; Chatbot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6480" y="4983480"/>
            <a:ext cx="5303520" cy="9601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26480" y="4983480"/>
            <a:ext cx="438912" cy="9601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3056" y="5184648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516636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332"/>
                </a:solidFill>
                <a:latin typeface="Calibri"/>
              </a:rPr>
              <a:t>Tests, Installation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52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73152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Introduction &amp; Objectifs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8F7"/>
                </a:solidFill>
                <a:latin typeface="Calibri"/>
              </a:rPr>
              <a:t>Plateforme e-commerce full-stack pour le marché marocain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9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D6B8C"/>
                </a:solidFill>
                <a:latin typeface="Calibri"/>
              </a:rPr>
              <a:t>DOWFS201 — Plateforme E-Commerce Morocco — Mai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11430000" cy="640080"/>
          </a:xfrm>
          <a:prstGeom prst="rect">
            <a:avLst/>
          </a:prstGeom>
          <a:solidFill>
            <a:srgbClr val="E8F4FD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332"/>
                </a:solidFill>
                <a:latin typeface="Calibri"/>
              </a:rPr>
              <a:t>Application web full-stack complète couvrant l'intégralité du cycle e-commerce : de la navigation au paiement, en passant par la gestion vendeur et l'analytics administrateur. Interface multilingue (EN/FR/AR), thèmes adaptatifs et PWA installable.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86000"/>
            <a:ext cx="5486400" cy="749808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286000"/>
            <a:ext cx="54864" cy="749808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414016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32"/>
                </a:solidFill>
                <a:latin typeface="Calibri"/>
              </a:rPr>
              <a:t>✓  API REST robuste Laravel 12 — cycle e-commerce complet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2286000"/>
            <a:ext cx="5486400" cy="749808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0" y="2286000"/>
            <a:ext cx="54864" cy="749808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2414016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32"/>
                </a:solidFill>
                <a:latin typeface="Calibri"/>
              </a:rPr>
              <a:t>✓  SPA React 19 + Vite 8 + Redux Toolkit — état global centralisé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82112"/>
            <a:ext cx="5486400" cy="749808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182112"/>
            <a:ext cx="54864" cy="749808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331012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32"/>
                </a:solidFill>
                <a:latin typeface="Calibri"/>
              </a:rPr>
              <a:t>✓  Système de rôles RBAC : Admin / Vendeur / Client / Caissière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3182112"/>
            <a:ext cx="5486400" cy="749808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35040" y="3182112"/>
            <a:ext cx="54864" cy="749808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2" y="331012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32"/>
                </a:solidFill>
                <a:latin typeface="Calibri"/>
              </a:rPr>
              <a:t>✓  Thèmes clair/sombre + palette Bleue/Neutre persistante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078224"/>
            <a:ext cx="5486400" cy="749808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078224"/>
            <a:ext cx="54864" cy="749808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20624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32"/>
                </a:solidFill>
                <a:latin typeface="Calibri"/>
              </a:rPr>
              <a:t>✓  Paiement PayPal + factures PDF DomPDF + points fidélité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4078224"/>
            <a:ext cx="5486400" cy="749808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35040" y="4078224"/>
            <a:ext cx="54864" cy="749808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9632" y="420624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32"/>
                </a:solidFill>
                <a:latin typeface="Calibri"/>
              </a:rPr>
              <a:t>✓  Multilingue EN/FR/AR avec RTL automatique (i18next)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974336"/>
            <a:ext cx="5486400" cy="749808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974336"/>
            <a:ext cx="54864" cy="749808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5102351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32"/>
                </a:solidFill>
                <a:latin typeface="Calibri"/>
              </a:rPr>
              <a:t>✓  PWA installable, cache offline, service worker Workbox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74336"/>
            <a:ext cx="5486400" cy="749808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35040" y="4974336"/>
            <a:ext cx="54864" cy="749808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9632" y="5102351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32"/>
                </a:solidFill>
                <a:latin typeface="Calibri"/>
              </a:rPr>
              <a:t>✓  Chatbot IA, comparaison, ventes flash, blog, marques, retours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52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73152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Analyse des Besoins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8F7"/>
                </a:solidFill>
                <a:latin typeface="Calibri"/>
              </a:rPr>
              <a:t>4 rôles distincts · 14 fonctionnalités identifiées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9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D6B8C"/>
                </a:solidFill>
                <a:latin typeface="Calibri"/>
              </a:rPr>
              <a:t>DOWFS201 — Plateforme E-Commerce Morocco — Mai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2606040" cy="1920240"/>
          </a:xfrm>
          <a:prstGeom prst="rect">
            <a:avLst/>
          </a:prstGeom>
          <a:solidFill>
            <a:srgbClr val="F5FB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2606040" cy="47548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55448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048256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Catalogue, panier, commandes,
avis, wishlist, points fidélité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508760"/>
            <a:ext cx="2606040" cy="1920240"/>
          </a:xfrm>
          <a:prstGeom prst="rect">
            <a:avLst/>
          </a:prstGeom>
          <a:solidFill>
            <a:srgbClr val="F5FBFF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1508760"/>
            <a:ext cx="2606040" cy="47548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155448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Vendeur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2048256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CRUD produits, stock, commandes
reçues, retours, boutique publique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508760"/>
            <a:ext cx="2606040" cy="1920240"/>
          </a:xfrm>
          <a:prstGeom prst="rect">
            <a:avLst/>
          </a:prstGeom>
          <a:solidFill>
            <a:srgbClr val="F5FBFF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606040" cy="47548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155448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Administrateur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2048256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Dashboard, analytics, utilisateurs,
audit log, paramètres, modération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0" y="1508760"/>
            <a:ext cx="2606040" cy="1920240"/>
          </a:xfrm>
          <a:prstGeom prst="rect">
            <a:avLst/>
          </a:prstGeom>
          <a:solidFill>
            <a:srgbClr val="F5FB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9680" y="1508760"/>
            <a:ext cx="2606040" cy="4754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79408" y="155448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Caissière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9408" y="2048256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Validation commandes, factures
PDF, gestion des retours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611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3"/>
                </a:solidFill>
                <a:latin typeface="Calibri"/>
              </a:rPr>
              <a:t>Fonctionnalités Clés (priorité haute)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005072"/>
            <a:ext cx="1783080" cy="41148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03250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C2626"/>
                </a:solidFill>
                <a:latin typeface="Calibri"/>
              </a:rPr>
              <a:t>F1 · Auth Sanctum &amp; RBAC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40279" y="4005072"/>
            <a:ext cx="1783080" cy="41148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31720" y="403250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C2626"/>
                </a:solidFill>
                <a:latin typeface="Calibri"/>
              </a:rPr>
              <a:t>F2 · Catalogue &amp; Filtres avancés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0" y="4005072"/>
            <a:ext cx="1783080" cy="41148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40" y="403250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C2626"/>
                </a:solidFill>
                <a:latin typeface="Calibri"/>
              </a:rPr>
              <a:t>F3 · Panier hybride invité/auth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4005072"/>
            <a:ext cx="1783080" cy="41148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59" y="403250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C2626"/>
                </a:solidFill>
                <a:latin typeface="Calibri"/>
              </a:rPr>
              <a:t>F4 · Processus commande complet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0" y="4005072"/>
            <a:ext cx="1783080" cy="41148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79" y="403250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C2626"/>
                </a:solidFill>
                <a:latin typeface="Calibri"/>
              </a:rPr>
              <a:t>F5 · Paiement PayPal + livraison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38360" y="4005072"/>
            <a:ext cx="1783080" cy="41148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9800" y="403250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C2626"/>
                </a:solidFill>
                <a:latin typeface="Calibri"/>
              </a:rPr>
              <a:t>F6 · Factures PDF DomPDF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507992"/>
            <a:ext cx="1783080" cy="411480"/>
          </a:xfrm>
          <a:prstGeom prst="rect">
            <a:avLst/>
          </a:prstGeom>
          <a:solidFill>
            <a:srgbClr val="FEFCE8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53542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A580C"/>
                </a:solidFill>
                <a:latin typeface="Calibri"/>
              </a:rPr>
              <a:t>F7 · Dashboard Analytics Recharts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40279" y="4507992"/>
            <a:ext cx="1783080" cy="411480"/>
          </a:xfrm>
          <a:prstGeom prst="rect">
            <a:avLst/>
          </a:prstGeom>
          <a:solidFill>
            <a:srgbClr val="FEFCE8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31720" y="453542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A580C"/>
                </a:solidFill>
                <a:latin typeface="Calibri"/>
              </a:rPr>
              <a:t>F8 · Multilingue EN/FR/AR + RTL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0" y="4507992"/>
            <a:ext cx="1783080" cy="411480"/>
          </a:xfrm>
          <a:prstGeom prst="rect">
            <a:avLst/>
          </a:prstGeom>
          <a:solidFill>
            <a:srgbClr val="FEFCE8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06240" y="453542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A580C"/>
                </a:solidFill>
                <a:latin typeface="Calibri"/>
              </a:rPr>
              <a:t>F9 · Thèmes clair/sombre + palettes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4507992"/>
            <a:ext cx="1783080" cy="411480"/>
          </a:xfrm>
          <a:prstGeom prst="rect">
            <a:avLst/>
          </a:prstGeom>
          <a:solidFill>
            <a:srgbClr val="FEFCE8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59" y="453542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A580C"/>
                </a:solidFill>
                <a:latin typeface="Calibri"/>
              </a:rPr>
              <a:t>F10 · PWA offline + install prompt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63840" y="4507992"/>
            <a:ext cx="1783080" cy="411480"/>
          </a:xfrm>
          <a:prstGeom prst="rect">
            <a:avLst/>
          </a:prstGeom>
          <a:solidFill>
            <a:srgbClr val="FEFCE8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5279" y="453542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A580C"/>
                </a:solidFill>
                <a:latin typeface="Calibri"/>
              </a:rPr>
              <a:t>F11 · Ventes flash, comparaison, recently viewed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38360" y="4507992"/>
            <a:ext cx="1783080" cy="411480"/>
          </a:xfrm>
          <a:prstGeom prst="rect">
            <a:avLst/>
          </a:prstGeom>
          <a:solidFill>
            <a:srgbClr val="FEFCE8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29800" y="453542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A580C"/>
                </a:solidFill>
                <a:latin typeface="Calibri"/>
              </a:rPr>
              <a:t>F12 · Blog, marques, boutique vendeur, fidélité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50292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8CAA"/>
                </a:solidFill>
                <a:latin typeface="Calibri"/>
              </a:rPr>
              <a:t>● Rouge = Haute priorité   ● Jaune = Moyenne priorité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52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73152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Architecture Technique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8F7"/>
                </a:solidFill>
                <a:latin typeface="Calibri"/>
              </a:rPr>
              <a:t>Architecture Headless — API REST + SPA découplée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9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D6B8C"/>
                </a:solidFill>
                <a:latin typeface="Calibri"/>
              </a:rPr>
              <a:t>DOWFS201 — Plateforme E-Commerce Morocco — Mai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11430000" cy="749808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18488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Présentation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618488"/>
            <a:ext cx="8778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React 19 · Vite 8 · Redux Toolkit · Tailwind CSS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86584"/>
            <a:ext cx="11430000" cy="7498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49631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Communication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496312"/>
            <a:ext cx="8778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Axios · API REST /api/v1 · Bearer Token Sanctum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64408"/>
            <a:ext cx="11430000" cy="749808"/>
          </a:xfrm>
          <a:prstGeom prst="rect">
            <a:avLst/>
          </a:prstGeom>
          <a:solidFill>
            <a:srgbClr val="0052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74136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Logique Métier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374136"/>
            <a:ext cx="8778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Laravel 12 · Controllers · Middleware · Policies RBAC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142231"/>
            <a:ext cx="11430000" cy="749808"/>
          </a:xfrm>
          <a:prstGeom prst="rect">
            <a:avLst/>
          </a:prstGeom>
          <a:solidFill>
            <a:srgbClr val="003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251959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Persistance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251959"/>
            <a:ext cx="8778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Eloquent ORM · 16 modèles · 18 migrations · SQLite / MySQL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020056"/>
            <a:ext cx="11430000" cy="749808"/>
          </a:xfrm>
          <a:prstGeom prst="rect">
            <a:avLst/>
          </a:prstGeom>
          <a:solidFill>
            <a:srgbClr val="0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129784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Stockage / Cache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5129784"/>
            <a:ext cx="8778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Laravel Storage (disk:public) · Workbox Service Worker · PWA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9436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Modèle de Données — 16 Modèles Eloquent clés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291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8CAA"/>
                </a:solidFill>
                <a:latin typeface="Calibri"/>
              </a:rPr>
              <a:t>User · Product · Category · Order · OrderItem · Cart/CartItem · Address · Review · Coupon · ShippingMethod · Brand · Blog/BlogTag · Return · AuditLog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52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73152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Stack Technique &amp; API 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8F7"/>
                </a:solidFill>
                <a:latin typeface="Calibri"/>
              </a:rPr>
              <a:t>Technologies modernes · 15 dépendances principales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9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D6B8C"/>
                </a:solidFill>
                <a:latin typeface="Calibri"/>
              </a:rPr>
              <a:t>DOWFS201 — Plateforme E-Commerce Morocco — Mai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394960" cy="749808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54864" cy="7498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819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Laravel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8CAA"/>
                </a:solidFill>
                <a:latin typeface="Calibri"/>
              </a:rPr>
              <a:t>API REST, ORM, Sanctum, DomPDF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508760"/>
            <a:ext cx="5394960" cy="749808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1508760"/>
            <a:ext cx="54864" cy="7498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5819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React 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90195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8CAA"/>
                </a:solidFill>
                <a:latin typeface="Calibri"/>
              </a:rPr>
              <a:t>SPA, composants fonctionnels, hooks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386584"/>
            <a:ext cx="5394960" cy="749808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386584"/>
            <a:ext cx="54864" cy="7498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45973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Vite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7797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8CAA"/>
                </a:solidFill>
                <a:latin typeface="Calibri"/>
              </a:rPr>
              <a:t>Build ultra-rapide, HMR, code splitting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386584"/>
            <a:ext cx="5394960" cy="749808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2386584"/>
            <a:ext cx="54864" cy="7498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245973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Redux Toolkit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7797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8CAA"/>
                </a:solidFill>
                <a:latin typeface="Calibri"/>
              </a:rPr>
              <a:t>Slices : auth, cart, theme, ui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264408"/>
            <a:ext cx="5394960" cy="749808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264408"/>
            <a:ext cx="54864" cy="7498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3375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Tailwind CSS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6576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8CAA"/>
                </a:solidFill>
                <a:latin typeface="Calibri"/>
              </a:rPr>
              <a:t>Design system + variables CSS thèmes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3264408"/>
            <a:ext cx="5394960" cy="749808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0" y="3264408"/>
            <a:ext cx="54864" cy="7498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33375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framer-motion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6576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8CAA"/>
                </a:solidFill>
                <a:latin typeface="Calibri"/>
              </a:rPr>
              <a:t>Animations fluides, micro-interactions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142231"/>
            <a:ext cx="5394960" cy="749808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4142231"/>
            <a:ext cx="54864" cy="7498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215383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Recharts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535423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8CAA"/>
                </a:solidFill>
                <a:latin typeface="Calibri"/>
              </a:rPr>
              <a:t>Graphiques analytics temps réel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4142231"/>
            <a:ext cx="5394960" cy="749808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35040" y="4142231"/>
            <a:ext cx="54864" cy="7498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0" y="4215383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i18next 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535423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8CAA"/>
                </a:solidFill>
                <a:latin typeface="Calibri"/>
              </a:rPr>
              <a:t>EN/FR/AR + RTL automatique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020056"/>
            <a:ext cx="5394960" cy="749808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5020056"/>
            <a:ext cx="54864" cy="7498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0932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PayPal SDK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4132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8CAA"/>
                </a:solidFill>
                <a:latin typeface="Calibri"/>
              </a:rPr>
              <a:t>Paiement sécurisé + sandbox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5020056"/>
            <a:ext cx="5394960" cy="749808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35040" y="5020056"/>
            <a:ext cx="54864" cy="74980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0" y="50932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DomPDF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54132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8CAA"/>
                </a:solidFill>
                <a:latin typeface="Calibri"/>
              </a:rPr>
              <a:t>Factures PDF côté serveur Laravel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59436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Endpoints API REST principaux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2636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8CAA"/>
                </a:solidFill>
                <a:latin typeface="Calibri"/>
              </a:rPr>
              <a:t>POST /login · GET /products · POST /cart/add · POST /orders · GET /orders/{id}/invoice · POST /chatbot · GET /admin/dashboard · GET /admin/analytics/sales · POST /admin/products/bulk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52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73152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Pages Frontend &amp; Système de Thèmes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8F7"/>
                </a:solidFill>
                <a:latin typeface="Calibri"/>
              </a:rPr>
              <a:t>15 pages · 4 combinaisons de thème · PWA installable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9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D6B8C"/>
                </a:solidFill>
                <a:latin typeface="Calibri"/>
              </a:rPr>
              <a:t>DOWFS201 — Plateforme E-Commerce Morocco — Mai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4475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A3"/>
                </a:solidFill>
                <a:latin typeface="Calibri"/>
              </a:rPr>
              <a:t>Routes de l'Application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10512"/>
            <a:ext cx="5760720" cy="41148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65376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/ — HomePage (hero, flash, vedettes, marques)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95144"/>
            <a:ext cx="57607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5000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/products — Catalogue filtres + pagination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79776"/>
            <a:ext cx="5760720" cy="41148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/products/:slug — Détail + galerie + avis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64408"/>
            <a:ext cx="57607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19272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/cart — Panier + coupon + résumé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49039"/>
            <a:ext cx="5760720" cy="41148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03903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/checkout — Adresse + livraison + PayPal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33672"/>
            <a:ext cx="57607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288536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/orders/:id — Timeline d'état commande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18304"/>
            <a:ext cx="5760720" cy="41148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773168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/compare — Comparaison 4 produits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202936"/>
            <a:ext cx="57607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257799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/blog, /brands — Contenu éditorial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810512"/>
            <a:ext cx="4572000" cy="41148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65376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/wishlist — Liste de souhaits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295144"/>
            <a:ext cx="4572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350008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/sellers/:id — Boutique publique vendeur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779776"/>
            <a:ext cx="4572000" cy="41148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283464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/admin/* — 7 pages admin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3264408"/>
            <a:ext cx="4572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319272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/seller/* — 5 pages vendeur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3749039"/>
            <a:ext cx="4572000" cy="41148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3803903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/login, /register, /forgot-password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233672"/>
            <a:ext cx="4572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288536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/404 — Page d'erreur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14447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2A3"/>
                </a:solidFill>
                <a:latin typeface="Calibri"/>
              </a:rPr>
              <a:t>Système de Thèmes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892040"/>
            <a:ext cx="11430000" cy="347472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493775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2A3"/>
                </a:solidFill>
                <a:latin typeface="Calibri"/>
              </a:rPr>
              <a:t>Clair / Sombre: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94560" y="4937759"/>
            <a:ext cx="9418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Toggle persisté localStorage + transition douce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285231"/>
            <a:ext cx="11430000" cy="347472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5330951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2A3"/>
                </a:solidFill>
                <a:latin typeface="Calibri"/>
              </a:rPr>
              <a:t>Bleue / Neutre: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94560" y="5330951"/>
            <a:ext cx="9418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#0066CC vs Noir &amp; Blanc — 4 combinaisons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678424"/>
            <a:ext cx="11430000" cy="347472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572414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2A3"/>
                </a:solidFill>
                <a:latin typeface="Calibri"/>
              </a:rPr>
              <a:t>CSS Variables: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4560" y="5724144"/>
            <a:ext cx="9418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--bg-card, --primary-btn, --text-1 sur tous composants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6071616"/>
            <a:ext cx="11430000" cy="347472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61173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2A3"/>
                </a:solidFill>
                <a:latin typeface="Calibri"/>
              </a:rPr>
              <a:t>PWA: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94560" y="6117336"/>
            <a:ext cx="9418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Service Worker + manifest + install prompt natif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52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73152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Fonctionnalités Commerce Avancées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9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D6B8C"/>
                </a:solidFill>
                <a:latin typeface="Calibri"/>
              </a:rPr>
              <a:t>DOWFS201 — Plateforme E-Commerce Morocco — Mai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08760"/>
            <a:ext cx="2743200" cy="214884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" y="1600200"/>
            <a:ext cx="2487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Ventes Flash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1892807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Compte à rebours temps réel H:M:S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176272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Badge remise animé sur les cartes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2459736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Stock limité avec barre de progression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" y="2743200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Section dédiée sur la HomePage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82112" y="1508760"/>
            <a:ext cx="2743200" cy="214884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1600200"/>
            <a:ext cx="2487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Points de Fidélité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1892807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Accumulation à chaque commande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2176272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Conversion en réduction checkout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2459736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Historique dans le profil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0128" y="2743200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Célébration canvas-confetti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9904" y="1508760"/>
            <a:ext cx="2743200" cy="214884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1600200"/>
            <a:ext cx="2487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Comparaison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892807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Jusqu'à 4 produits simultanément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176272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Barre flottante de sélection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459736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Vue côte-à-côte des attributs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743200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Route dédiée /compare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97696" y="1508760"/>
            <a:ext cx="2743200" cy="214884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25712" y="1600200"/>
            <a:ext cx="2487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Partage Social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2" y="1892807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WhatsApp, Facebook, X (Twitter)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2" y="2176272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Copie lien produit en 1 clic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5712" y="2459736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SEO via react-helmet-async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5712" y="2743200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Open Graph par page produit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840479"/>
            <a:ext cx="2743200" cy="214884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6" y="3931919"/>
            <a:ext cx="2487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Blog &amp; Marques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" y="4224527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Articles avec tags et auteur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" y="4507991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Catalogue marques partenaires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" y="4791455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Partage social articles blog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2336" y="5074919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Articles connexes suggérés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840479"/>
            <a:ext cx="2743200" cy="214884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10128" y="3931919"/>
            <a:ext cx="2487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Import / Export CSV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10128" y="4224527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Import produits en masse admin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10128" y="4507991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Export commandes &amp; utilisateurs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10128" y="4791455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Rapport d'erreurs ligne par ligne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10128" y="5074919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Drag &amp; drop via react-dropzone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9904" y="3840479"/>
            <a:ext cx="2743200" cy="214884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0" y="3931919"/>
            <a:ext cx="2487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Retours Vendeur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4224527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Demandes de retour clients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4507991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Gestion par le vendeur connecté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791455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Suivi statut et remboursement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5074919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Historique dans /seller/returns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97696" y="3840479"/>
            <a:ext cx="2743200" cy="214884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25712" y="3931919"/>
            <a:ext cx="2487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2A3"/>
                </a:solidFill>
                <a:latin typeface="Calibri"/>
              </a:rPr>
              <a:t>Audit Log Admin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25712" y="4224527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Toutes actions admin tracées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25712" y="4507991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IP, action, cible, payload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25712" y="4791455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Paginé et filtrable par date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25712" y="5074919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• Accessible depuis /admin/audit-log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52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73152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Tableau de Bord, Analytics &amp; Chatbot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9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D6B8C"/>
                </a:solidFill>
                <a:latin typeface="Calibri"/>
              </a:rPr>
              <a:t>DOWFS201 — Plateforme E-Commerce Morocco —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4475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3"/>
                </a:solidFill>
                <a:latin typeface="Calibri"/>
              </a:rPr>
              <a:t>Dashboard Administrateur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10512"/>
            <a:ext cx="5760720" cy="5029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65376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2A3"/>
                </a:solidFill>
                <a:latin typeface="Calibri"/>
              </a:rPr>
              <a:t>KPIs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86537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CA total, commandes jour/mois, nouveaux clients, taux 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86584"/>
            <a:ext cx="5760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44144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2A3"/>
                </a:solidFill>
                <a:latin typeface="Calibri"/>
              </a:rPr>
              <a:t>Recharts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44144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Courbe ventes 30j · Histogramme mensuel · Camembert catégories · Top 10 produits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62656"/>
            <a:ext cx="5760720" cy="5029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017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2A3"/>
                </a:solidFill>
                <a:latin typeface="Calibri"/>
              </a:rPr>
              <a:t>Bulk 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175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Actions groupées activation / suppression / export sur produits &amp; commandes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538728"/>
            <a:ext cx="5760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59359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2A3"/>
                </a:solidFill>
                <a:latin typeface="Calibri"/>
              </a:rPr>
              <a:t>Audit 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5935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Journal complet des actions admin avec IP, cible, payload, horodatage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114800"/>
            <a:ext cx="5760720" cy="5029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169663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2A3"/>
                </a:solidFill>
                <a:latin typeface="Calibri"/>
              </a:rPr>
              <a:t>Paramètres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169663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Frais de livraison, taux TVA, code promo global, paramètres plateforme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4447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3"/>
                </a:solidFill>
                <a:latin typeface="Calibri"/>
              </a:rPr>
              <a:t>Chatbot d'Assistance Intelligent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1810512"/>
            <a:ext cx="5394960" cy="5029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18653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2A3"/>
                </a:solidFill>
                <a:latin typeface="Calibri"/>
              </a:rPr>
              <a:t>Détection d'intention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1865376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Analyse EN/FR/AR — catégorie de demande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2386584"/>
            <a:ext cx="53949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24414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2A3"/>
                </a:solidFill>
                <a:latin typeface="Calibri"/>
              </a:rPr>
              <a:t>Suggestions produits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4414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Fiches cliquables : image + prix + badge remise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2962656"/>
            <a:ext cx="5394960" cy="5029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3017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2A3"/>
                </a:solidFill>
                <a:latin typeface="Calibri"/>
              </a:rPr>
              <a:t>Chips réponse rapide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0175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Boutons contextuels pour guider la navigation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3538728"/>
            <a:ext cx="53949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935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2A3"/>
                </a:solidFill>
                <a:latin typeface="Calibri"/>
              </a:rPr>
              <a:t>Thème adaptatif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2520" y="359359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Variables CSS --bg-card, --primary-btn, --nav-bg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92240" y="4114800"/>
            <a:ext cx="5394960" cy="5029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400" y="4169663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2A3"/>
                </a:solidFill>
                <a:latin typeface="Calibri"/>
              </a:rPr>
              <a:t>Actions en-tête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32520" y="4169663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Bouton effacer conversation + minimiser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92240" y="4690872"/>
            <a:ext cx="53949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29400" y="474573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2A3"/>
                </a:solidFill>
                <a:latin typeface="Calibri"/>
              </a:rPr>
              <a:t>Accessibilité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32520" y="4745736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role=dialog, aria-label, navigation clavier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92240" y="5266944"/>
            <a:ext cx="5394960" cy="5029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5321807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2A3"/>
                </a:solidFill>
                <a:latin typeface="Calibri"/>
              </a:rPr>
              <a:t>RTL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32520" y="5321807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Interface et textes adaptés à la langue arabe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5843016"/>
            <a:ext cx="53949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29400" y="5897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2A3"/>
                </a:solidFill>
                <a:latin typeface="Calibri"/>
              </a:rPr>
              <a:t>Indicateur frappe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32520" y="5897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332"/>
                </a:solidFill>
                <a:latin typeface="Calibri"/>
              </a:rPr>
              <a:t>Animation dots staggerée pendant traitement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52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73152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Tests &amp;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9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D6B8C"/>
                </a:solidFill>
                <a:latin typeface="Calibri"/>
              </a:rPr>
              <a:t>DOWFS201 — Plateforme E-Commerce Morocco —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44752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3"/>
                </a:solidFill>
                <a:latin typeface="Calibri"/>
              </a:rPr>
              <a:t>Installation Locale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10512"/>
            <a:ext cx="5577840" cy="292608"/>
          </a:xfrm>
          <a:prstGeom prst="rect">
            <a:avLst/>
          </a:prstGeom>
          <a:solidFill>
            <a:srgbClr val="09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8CFF"/>
                </a:solidFill>
                <a:latin typeface="Calibri"/>
              </a:rPr>
              <a:t>Backend — Laravel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21408"/>
            <a:ext cx="5577840" cy="347472"/>
          </a:xfrm>
          <a:prstGeom prst="rect">
            <a:avLst/>
          </a:prstGeom>
          <a:solidFill>
            <a:srgbClr val="0C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1488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DD3FC"/>
                </a:solidFill>
                <a:latin typeface="Courier New"/>
              </a:rPr>
              <a:t>cd backend &amp;&amp; composer install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05456"/>
            <a:ext cx="5577840" cy="347472"/>
          </a:xfrm>
          <a:prstGeom prst="rect">
            <a:avLst/>
          </a:prstGeom>
          <a:solidFill>
            <a:srgbClr val="0C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5328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DD3FC"/>
                </a:solidFill>
                <a:latin typeface="Courier New"/>
              </a:rPr>
              <a:t>cp .env.example .env &amp;&amp; php artisan key:generate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89503"/>
            <a:ext cx="5577840" cy="347472"/>
          </a:xfrm>
          <a:prstGeom prst="rect">
            <a:avLst/>
          </a:prstGeom>
          <a:solidFill>
            <a:srgbClr val="0C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9169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DD3FC"/>
                </a:solidFill>
                <a:latin typeface="Courier New"/>
              </a:rPr>
              <a:t>php artisan migrate --seed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73552"/>
            <a:ext cx="5577840" cy="347472"/>
          </a:xfrm>
          <a:prstGeom prst="rect">
            <a:avLst/>
          </a:prstGeom>
          <a:solidFill>
            <a:srgbClr val="0C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009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DD3FC"/>
                </a:solidFill>
                <a:latin typeface="Courier New"/>
              </a:rPr>
              <a:t>php artisan storage:link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657600"/>
            <a:ext cx="5577840" cy="347472"/>
          </a:xfrm>
          <a:prstGeom prst="rect">
            <a:avLst/>
          </a:prstGeom>
          <a:solidFill>
            <a:srgbClr val="0C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6850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DD3FC"/>
                </a:solidFill>
                <a:latin typeface="Courier New"/>
              </a:rPr>
              <a:t>php artisan serve  →  http://localhost:8000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78224"/>
            <a:ext cx="5577840" cy="292608"/>
          </a:xfrm>
          <a:prstGeom prst="rect">
            <a:avLst/>
          </a:prstGeom>
          <a:solidFill>
            <a:srgbClr val="09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096512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8CFF"/>
                </a:solidFill>
                <a:latin typeface="Calibri"/>
              </a:rPr>
              <a:t>Frontend — React 19 + Vite 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389120"/>
            <a:ext cx="5577840" cy="347472"/>
          </a:xfrm>
          <a:prstGeom prst="rect">
            <a:avLst/>
          </a:prstGeom>
          <a:solidFill>
            <a:srgbClr val="0C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4165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DD3FC"/>
                </a:solidFill>
                <a:latin typeface="Courier New"/>
              </a:rPr>
              <a:t>cd frontend &amp;&amp; npm install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773168"/>
            <a:ext cx="5577840" cy="347472"/>
          </a:xfrm>
          <a:prstGeom prst="rect">
            <a:avLst/>
          </a:prstGeom>
          <a:solidFill>
            <a:srgbClr val="0C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8006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DD3FC"/>
                </a:solidFill>
                <a:latin typeface="Courier New"/>
              </a:rPr>
              <a:t>npm run dev  →  http://localhost:3000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14447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3"/>
                </a:solidFill>
                <a:latin typeface="Calibri"/>
              </a:rPr>
              <a:t>Comptes de Test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810512"/>
            <a:ext cx="5486400" cy="713232"/>
          </a:xfrm>
          <a:prstGeom prst="rect">
            <a:avLst/>
          </a:prstGeom>
          <a:solidFill>
            <a:srgbClr val="F5FBFF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1810512"/>
            <a:ext cx="64008" cy="71323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18653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A580C"/>
                </a:solidFill>
                <a:latin typeface="Calibri"/>
              </a:rPr>
              <a:t>Administrateur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215798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admin@example.com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3952" y="231343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8CAA"/>
                </a:solidFill>
                <a:latin typeface="Calibri"/>
              </a:rPr>
              <a:t>Mot de passe : password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633472"/>
            <a:ext cx="5486400" cy="713232"/>
          </a:xfrm>
          <a:prstGeom prst="rect">
            <a:avLst/>
          </a:prstGeom>
          <a:solidFill>
            <a:srgbClr val="F5FBFF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2633472"/>
            <a:ext cx="64008" cy="7132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2688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Vendeur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29809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seller@example.com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3952" y="3136391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8CAA"/>
                </a:solidFill>
                <a:latin typeface="Calibri"/>
              </a:rPr>
              <a:t>Mot de passe : password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3456432"/>
            <a:ext cx="5486400" cy="713232"/>
          </a:xfrm>
          <a:prstGeom prst="rect">
            <a:avLst/>
          </a:prstGeom>
          <a:solidFill>
            <a:srgbClr val="F5FB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3456432"/>
            <a:ext cx="64008" cy="7132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73952" y="351129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6CC"/>
                </a:solidFill>
                <a:latin typeface="Calibri"/>
              </a:rPr>
              <a:t>Client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3952" y="380390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client@example.com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73952" y="39593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8CAA"/>
                </a:solidFill>
                <a:latin typeface="Calibri"/>
              </a:rPr>
              <a:t>Mot de passe : password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4279392"/>
            <a:ext cx="5486400" cy="713232"/>
          </a:xfrm>
          <a:prstGeom prst="rect">
            <a:avLst/>
          </a:prstGeom>
          <a:solidFill>
            <a:srgbClr val="F5FB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9360" y="4279392"/>
            <a:ext cx="64008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73952" y="433425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Caissière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3952" y="462686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caissiere@example.com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3952" y="47823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8CAA"/>
                </a:solidFill>
                <a:latin typeface="Calibri"/>
              </a:rPr>
              <a:t>Mot de passe : password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52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73152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Conclusion &amp; Perspectives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8F7"/>
                </a:solidFill>
                <a:latin typeface="Calibri"/>
              </a:rPr>
              <a:t>Plateforme complète · Production-ready · Architecture moderne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91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D6B8C"/>
                </a:solidFill>
                <a:latin typeface="Calibri"/>
              </a:rPr>
              <a:t>DOWFS201 — Plateforme E-Commerce Morocco — Mai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11430000" cy="530352"/>
          </a:xfrm>
          <a:prstGeom prst="rect">
            <a:avLst/>
          </a:prstGeom>
          <a:solidFill>
            <a:srgbClr val="E8F4FD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32"/>
                </a:solidFill>
                <a:latin typeface="Calibri"/>
              </a:rPr>
              <a:t>Plateforme e-commerce full-stack production-ready couvrant l'intégralité du cycle de vente. Architecture découplée Laravel 12 + React 19, RBAC 4 rôles, thèmes adaptatifs, PWA offline, multilingue EN/FR/AR et richesse fonctionnelle dépassant les exigences du module DOWFS201.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4884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3"/>
                </a:solidFill>
                <a:latin typeface="Calibri"/>
              </a:rPr>
              <a:t>Points Forts Réalisés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14600"/>
            <a:ext cx="11430000" cy="5029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514600"/>
            <a:ext cx="54864" cy="502920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606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52A3"/>
                </a:solidFill>
                <a:latin typeface="Calibri"/>
              </a:rPr>
              <a:t>Architecture: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6060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32"/>
                </a:solidFill>
                <a:latin typeface="Calibri"/>
              </a:rPr>
              <a:t>API REST découplée + SPA React · RBAC 4 rôles · Journal d'audit complet · FormRequests Laravel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081528"/>
            <a:ext cx="11430000" cy="5029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081528"/>
            <a:ext cx="54864" cy="502920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17296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52A3"/>
                </a:solidFill>
                <a:latin typeface="Calibri"/>
              </a:rPr>
              <a:t>UX &amp; Design: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172968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32"/>
                </a:solidFill>
                <a:latin typeface="Calibri"/>
              </a:rPr>
              <a:t>Thèmes clair/sombre + 2 palettes · PWA installable · Skeleton loading · Animations framer-motion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648456"/>
            <a:ext cx="11430000" cy="5029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648456"/>
            <a:ext cx="54864" cy="502920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3989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52A3"/>
                </a:solidFill>
                <a:latin typeface="Calibri"/>
              </a:rPr>
              <a:t>Commerce: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3739896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32"/>
                </a:solidFill>
                <a:latin typeface="Calibri"/>
              </a:rPr>
              <a:t>Panier hybride invité/auth · PayPal + PDF · Ventes flash · Comparaison · Points fidélité · Blog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215383"/>
            <a:ext cx="11430000" cy="502920"/>
          </a:xfrm>
          <a:prstGeom prst="rect">
            <a:avLst/>
          </a:prstGeom>
          <a:solidFill>
            <a:srgbClr val="F5FB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4215383"/>
            <a:ext cx="54864" cy="502920"/>
          </a:xfrm>
          <a:prstGeom prst="rect">
            <a:avLst/>
          </a:prstGeom>
          <a:solidFill>
            <a:srgbClr val="1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306823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52A3"/>
                </a:solidFill>
                <a:latin typeface="Calibri"/>
              </a:rPr>
              <a:t>Analytics: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4306823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32"/>
                </a:solidFill>
                <a:latin typeface="Calibri"/>
              </a:rPr>
              <a:t>Dashboard KPIs + Recharts · Actions groupées · Timeline commande · Chatbot IA multi-langue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828032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2A3"/>
                </a:solidFill>
                <a:latin typeface="Calibri"/>
              </a:rPr>
              <a:t>Pistes d'Amélioration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193792"/>
            <a:ext cx="539496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2578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→  MySQL en production + optimisation index N+1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0760" y="5193792"/>
            <a:ext cx="539496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52578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→  WebSockets temps réel (Laravel Echo + Pusher)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669279"/>
            <a:ext cx="539496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733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→  Application mobile React Native sur la même API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5669279"/>
            <a:ext cx="539496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5733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332"/>
                </a:solidFill>
                <a:latin typeface="Calibri"/>
              </a:rPr>
              <a:t>→  ML FastAPI Python · CI/CD GitHub Actions · Stripe + CMI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1264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52A3"/>
                </a:solidFill>
                <a:latin typeface="Calibri"/>
              </a:rPr>
              <a:t>Merci —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